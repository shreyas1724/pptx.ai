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Example data, not measured</c:v>
                </c:pt>
              </c:strCache>
            </c:strRef>
          </c:tx>
          <c:spPr>
            <a:solidFill>
              <a:srgbClr val="9B8AFB"/>
            </a:solidFill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12.0</c:v>
                </c:pt>
                <c:pt idx="1">
                  <c:v>19.0</c:v>
                </c:pt>
                <c:pt idx="2">
                  <c:v>24.0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F7F9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F7F9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values</c:v>
                </c:pt>
              </c:strCache>
            </c:strRef>
          </c:tx>
          <c:spPr>
            <a:ln>
              <a:solidFill>
                <a:srgbClr val="9B8AFB"/>
              </a:solidFill>
            </a:ln>
          </c:spPr>
          <c:cat>
            <c:strRef>
              <c:f>Sheet1!$A$2:$A$4</c:f>
              <c:strCache>
                <c:ptCount val="3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10.0</c:v>
                </c:pt>
                <c:pt idx="1">
                  <c:v>20.0</c:v>
                </c:pt>
                <c:pt idx="2">
                  <c:v>30.0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F7F9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none"/>
        <c:minorTickMark val="none"/>
        <c:tickLblPos val="nextTo"/>
        <c:txPr>
          <a:bodyPr/>
          <a:lstStyle/>
          <a:p>
            <a:pPr>
              <a:defRPr sz="1200">
                <a:solidFill>
                  <a:srgbClr val="F7F9FF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Sample distribution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Education</c:v>
                </c:pt>
                <c:pt idx="1">
                  <c:v>Business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40.0</c:v>
                </c:pt>
                <c:pt idx="1">
                  <c:v>35.0</c:v>
                </c:pt>
                <c:pt idx="2">
                  <c:v>25.0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F7F9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values are fabricated illustrative fixture data, not actual project benchmark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chart, not factual user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values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01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6858000" cy="4206240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002536"/>
            <a:ext cx="617220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IDEAS, BEAUTIFULLY PRESENTED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505456"/>
            <a:ext cx="6245352" cy="1417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400" b="1">
                <a:solidFill>
                  <a:srgbClr val="F7F9FF"/>
                </a:solidFill>
                <a:latin typeface="Aptos Display"/>
              </a:defRPr>
            </a:pPr>
            <a:r>
              <a:t>The Future of Project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4325112"/>
            <a:ext cx="6053328" cy="8961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AAB8CF"/>
                </a:solidFill>
                <a:latin typeface="Aptos"/>
              </a:defRPr>
            </a:pPr>
            <a:r>
              <a:t>A demonstration of editable PPTX.AI slide designs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691640"/>
            <a:ext cx="3474720" cy="4206240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066543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5088" y="2066543"/>
            <a:ext cx="2276856" cy="35204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400" b="0">
                <a:solidFill>
                  <a:srgbClr val="F7F9FF"/>
                </a:solidFill>
                <a:latin typeface="Aptos"/>
              </a:defRPr>
            </a:pPr>
            <a:r>
              <a:t>This deck is an illustrative design fixture, not verified research.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02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Executive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938528"/>
            <a:ext cx="5157216" cy="1042415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75688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19" y="2011680"/>
            <a:ext cx="4251960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Ideas become structured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35624" y="1938528"/>
            <a:ext cx="5157216" cy="1042415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2075688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3992" y="2011680"/>
            <a:ext cx="4251960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Validation reduces delivery uncertainty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" y="3200400"/>
            <a:ext cx="5157216" cy="1042415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337560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3273552"/>
            <a:ext cx="4251960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Visual layouts match communication intent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35624" y="3200400"/>
            <a:ext cx="5157216" cy="1042415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337560"/>
            <a:ext cx="4389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3992" y="3273552"/>
            <a:ext cx="4251960" cy="8503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Native content remains editable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03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Problem and Solution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56231"/>
            <a:ext cx="5148072" cy="3886200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761488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761488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Problem: lengthy research can be hard to present.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4133087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4133087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People need to see the central insight.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856231"/>
            <a:ext cx="5148072" cy="3886200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167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RESPONSE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761488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5" y="2761488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Solution: plan each slide around a clear claim.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33087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5" y="4133087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Create native charts and diagrams where useful.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04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Comparison of Approaches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56231"/>
            <a:ext cx="5148072" cy="3886200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67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OPTION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2761488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761488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Traditional: repeated bullets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5" y="4133087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17904" y="4133087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Traditional: manual design decisions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53912" y="1856231"/>
            <a:ext cx="5148072" cy="3886200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1" y="2167128"/>
            <a:ext cx="466344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OPTION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761488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5" y="2761488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Proposed: content-aware slides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133087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94575" y="4133087"/>
            <a:ext cx="4114800" cy="12070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800" b="0">
                <a:solidFill>
                  <a:srgbClr val="F7F9FF"/>
                </a:solidFill>
                <a:latin typeface="Aptos"/>
              </a:defRPr>
            </a:pPr>
            <a:r>
              <a:t>Proposed: repeatable quality checks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05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Presentation Generation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3270503" cy="1481328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03911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281330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Understand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1828800"/>
            <a:ext cx="3270503" cy="1481328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2376" y="203911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1520" y="2441448"/>
            <a:ext cx="281330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Outline narrative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30040" y="2599090"/>
            <a:ext cx="155448" cy="0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802880" y="1828800"/>
            <a:ext cx="3270503" cy="1481328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2336" y="203911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1480" y="2441448"/>
            <a:ext cx="281330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Choose slide layouts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20000" y="2599090"/>
            <a:ext cx="155448" cy="0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22960" y="3831335"/>
            <a:ext cx="3270503" cy="1481328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4041648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443983"/>
            <a:ext cx="281330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Render PowerPoint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2920" y="3831335"/>
            <a:ext cx="3270503" cy="1481328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32376" y="4041648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4443983"/>
            <a:ext cx="281330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Check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30040" y="4601626"/>
            <a:ext cx="155448" cy="0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06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7" y="1737360"/>
            <a:ext cx="8412480" cy="768096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12848" y="1737360"/>
            <a:ext cx="77724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React application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92807" y="2574950"/>
            <a:ext cx="8412480" cy="768096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2574950"/>
            <a:ext cx="77724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FastAPI application APIs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9048" y="2428646"/>
            <a:ext cx="0" cy="146304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892807" y="3412540"/>
            <a:ext cx="8412480" cy="768096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2848" y="3412540"/>
            <a:ext cx="77724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Content &amp; layout planner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8" y="3266236"/>
            <a:ext cx="0" cy="146304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92807" y="4250131"/>
            <a:ext cx="8412480" cy="768096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12848" y="4250131"/>
            <a:ext cx="77724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Native PowerPoint renderer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4103827"/>
            <a:ext cx="0" cy="146304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892807" y="5087721"/>
            <a:ext cx="8412480" cy="768096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12848" y="5087721"/>
            <a:ext cx="7772400" cy="7680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Quality checks and export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099048" y="4941417"/>
            <a:ext cx="0" cy="146304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07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MVP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828800"/>
            <a:ext cx="2505456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500" b="1">
                <a:solidFill>
                  <a:srgbClr val="9B8AF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" y="2615184"/>
            <a:ext cx="2505456" cy="64008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" y="2862072"/>
            <a:ext cx="2505456" cy="2084831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081528"/>
            <a:ext cx="214884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38144" y="1828800"/>
            <a:ext cx="2505456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500" b="1">
                <a:solidFill>
                  <a:srgbClr val="9B8AF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8144" y="2615184"/>
            <a:ext cx="2505456" cy="64008"/>
          </a:xfrm>
          <a:prstGeom prst="rect">
            <a:avLst/>
          </a:prstGeom>
          <a:solidFill>
            <a:srgbClr val="59D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38144" y="2862072"/>
            <a:ext cx="2505456" cy="2084831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3081528"/>
            <a:ext cx="214884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Core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62472" y="1828800"/>
            <a:ext cx="2505456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500" b="1">
                <a:solidFill>
                  <a:srgbClr val="9B8AF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62472" y="2615184"/>
            <a:ext cx="2505456" cy="64008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62472" y="2862072"/>
            <a:ext cx="2505456" cy="2084831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8" y="3081528"/>
            <a:ext cx="214884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Quality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828800"/>
            <a:ext cx="2505456" cy="51206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500" b="1">
                <a:solidFill>
                  <a:srgbClr val="9B8AFB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0" y="2615184"/>
            <a:ext cx="2505456" cy="64008"/>
          </a:xfrm>
          <a:prstGeom prst="rect">
            <a:avLst/>
          </a:prstGeom>
          <a:solidFill>
            <a:srgbClr val="59D3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0" y="2862072"/>
            <a:ext cx="2505456" cy="2084831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0536" y="3081528"/>
            <a:ext cx="2148840" cy="1463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User testing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08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Illustrative Benchmarks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856231"/>
          <a:ext cx="10497312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0" y="1581912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100" b="0">
                <a:solidFill>
                  <a:srgbClr val="AAB8CF"/>
                </a:solidFill>
                <a:latin typeface="Aptos"/>
              </a:defRPr>
            </a:pPr>
            <a:r>
              <a:t>UNIT  sample units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09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Hypothetical Adoption Trend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856231"/>
          <a:ext cx="10497312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0" y="1581912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100" b="0">
                <a:solidFill>
                  <a:srgbClr val="AAB8CF"/>
                </a:solidFill>
                <a:latin typeface="Aptos"/>
              </a:defRPr>
            </a:pPr>
            <a:r>
              <a:t>UNIT  sample users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10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Illustrative Category Shares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856231"/>
          <a:ext cx="10497312" cy="404164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144000" y="1581912"/>
            <a:ext cx="2057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100" b="0">
                <a:solidFill>
                  <a:srgbClr val="AAB8CF"/>
                </a:solidFill>
                <a:latin typeface="Aptos"/>
              </a:defRPr>
            </a:pPr>
            <a:r>
              <a:t>UNIT  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11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Design System Metrics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20240"/>
            <a:ext cx="3377183" cy="3337560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432304"/>
            <a:ext cx="2983991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400" b="1">
                <a:solidFill>
                  <a:srgbClr val="9B8AFB"/>
                </a:solidFill>
                <a:latin typeface="Aptos Display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447288"/>
            <a:ext cx="2983991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Layout choices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4142232"/>
            <a:ext cx="2993135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AAB8CF"/>
                </a:solidFill>
                <a:latin typeface="Aptos"/>
              </a:defRPr>
            </a:pPr>
            <a:r>
              <a:t>Supported layout identifiers in the design schema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9872" y="1920240"/>
            <a:ext cx="3377183" cy="3337560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1896" y="2432304"/>
            <a:ext cx="2983991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400" b="1">
                <a:solidFill>
                  <a:srgbClr val="9B8AFB"/>
                </a:solidFill>
                <a:latin typeface="Aptos Display"/>
              </a:defRPr>
            </a:pPr>
            <a:r>
              <a:t>16:9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1896" y="3447288"/>
            <a:ext cx="2983991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Presentation aspect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1896" y="4142232"/>
            <a:ext cx="2993135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AAB8CF"/>
                </a:solidFill>
                <a:latin typeface="Aptos"/>
              </a:defRPr>
            </a:pPr>
            <a:r>
              <a:t>Standard wide presentation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9935" y="1920240"/>
            <a:ext cx="3377183" cy="3337560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61960" y="2432304"/>
            <a:ext cx="2983991" cy="8686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400" b="1">
                <a:solidFill>
                  <a:srgbClr val="9B8AFB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1960" y="3447288"/>
            <a:ext cx="2983991" cy="6126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1">
                <a:solidFill>
                  <a:srgbClr val="F7F9FF"/>
                </a:solidFill>
                <a:latin typeface="Aptos Display"/>
              </a:defRPr>
            </a:pPr>
            <a:r>
              <a:t>Native charts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1960" y="4142232"/>
            <a:ext cx="2993135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0">
                <a:solidFill>
                  <a:srgbClr val="AAB8CF"/>
                </a:solidFill>
                <a:latin typeface="Aptos"/>
              </a:defRPr>
            </a:pPr>
            <a:r>
              <a:t>Bar, line, pie supported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12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Technical Priorities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" y="1947672"/>
            <a:ext cx="3337560" cy="3657600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157984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60320"/>
            <a:ext cx="288036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Native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364991"/>
            <a:ext cx="2880360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AAB8CF"/>
                </a:solidFill>
                <a:latin typeface="Aptos"/>
              </a:defRPr>
            </a:pPr>
            <a:r>
              <a:t>Edit text and charts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947672"/>
            <a:ext cx="3337560" cy="3657600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9704" y="2157984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60320"/>
            <a:ext cx="288036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Validated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8848" y="3364991"/>
            <a:ext cx="2880360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AAB8CF"/>
                </a:solidFill>
                <a:latin typeface="Aptos"/>
              </a:defRPr>
            </a:pPr>
            <a:r>
              <a:t>Use strict schemas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81544" y="1947672"/>
            <a:ext cx="3337560" cy="3657600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2157984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0144" y="2560320"/>
            <a:ext cx="288036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No fabricated 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10144" y="3364991"/>
            <a:ext cx="2880360" cy="2103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>
              <a:defRPr sz="1400" b="0">
                <a:solidFill>
                  <a:srgbClr val="AAB8CF"/>
                </a:solidFill>
                <a:latin typeface="Aptos"/>
              </a:defRPr>
            </a:pPr>
            <a:r>
              <a:t>Human verification remains necessary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13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Research Methodology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398013" cy="1481328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03911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441448"/>
            <a:ext cx="194081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Collect user materials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0429" y="1828800"/>
            <a:ext cx="2398013" cy="1481328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9885" y="203911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9029" y="2441448"/>
            <a:ext cx="194081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Separate facts from assumptions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57549" y="2599090"/>
            <a:ext cx="155449" cy="0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057900" y="1828800"/>
            <a:ext cx="2398013" cy="1481328"/>
          </a:xfrm>
          <a:prstGeom prst="roundRect">
            <a:avLst>
              <a:gd name="adj" fmla="val 13000"/>
            </a:avLst>
          </a:prstGeom>
          <a:solidFill>
            <a:srgbClr val="18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7356" y="203911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2441448"/>
            <a:ext cx="194081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Draft an outline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75020" y="2599090"/>
            <a:ext cx="155448" cy="0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75369" y="1828800"/>
            <a:ext cx="2398013" cy="1481328"/>
          </a:xfrm>
          <a:prstGeom prst="roundRect">
            <a:avLst>
              <a:gd name="adj" fmla="val 13000"/>
            </a:avLst>
          </a:prstGeom>
          <a:solidFill>
            <a:srgbClr val="21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94826" y="203911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300" b="1">
                <a:solidFill>
                  <a:srgbClr val="9B8AFB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03969" y="2441448"/>
            <a:ext cx="1940813" cy="503651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100" b="1">
                <a:solidFill>
                  <a:srgbClr val="F7F9FF"/>
                </a:solidFill>
                <a:latin typeface="Aptos Display"/>
              </a:defRPr>
            </a:pPr>
            <a:r>
              <a:t>Validate key claims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92490" y="2599090"/>
            <a:ext cx="155448" cy="0"/>
          </a:xfrm>
          <a:prstGeom prst="line">
            <a:avLst/>
          </a:prstGeom>
          <a:ln w="25400">
            <a:solidFill>
              <a:srgbClr val="59D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14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667512"/>
            <a:ext cx="10817352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100" b="1">
                <a:solidFill>
                  <a:srgbClr val="F7F9FF"/>
                </a:solidFill>
                <a:latin typeface="Aptos Display"/>
              </a:defRPr>
            </a:pPr>
            <a:r>
              <a:t>References and 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" y="1911095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9304" y="1911095"/>
            <a:ext cx="9939528" cy="17419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This demonstration uses example statements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3817620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9304" y="3817620"/>
            <a:ext cx="9939528" cy="17419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700" b="0">
                <a:solidFill>
                  <a:srgbClr val="F7F9FF"/>
                </a:solidFill>
                <a:latin typeface="Aptos"/>
              </a:defRPr>
            </a:pPr>
            <a:r>
              <a:t>No external research was performed for the example presentation.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9B8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27432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000" b="1">
                <a:solidFill>
                  <a:srgbClr val="9B8AFB"/>
                </a:solidFill>
                <a:latin typeface="Aptos Display"/>
              </a:defRPr>
            </a:pPr>
            <a:r>
              <a:t>PPTX.AI  / 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71048" y="6419088"/>
            <a:ext cx="91440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0">
                <a:solidFill>
                  <a:srgbClr val="AAB8CF"/>
                </a:solidFill>
                <a:latin typeface="Aptos"/>
              </a:defRPr>
            </a:pPr>
            <a:r>
              <a:t>15  /  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291072"/>
            <a:ext cx="10972800" cy="10972"/>
          </a:xfrm>
          <a:prstGeom prst="rect">
            <a:avLst/>
          </a:prstGeom>
          <a:solidFill>
            <a:srgbClr val="334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19072"/>
            <a:ext cx="6400800" cy="4114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KEY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276856"/>
            <a:ext cx="9966960" cy="1481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3400" b="1">
                <a:solidFill>
                  <a:srgbClr val="F7F9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3904487"/>
            <a:ext cx="438912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1200" b="1">
                <a:solidFill>
                  <a:srgbClr val="9B8AFB"/>
                </a:solidFill>
                <a:latin typeface="Aptos Display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904487"/>
            <a:ext cx="9089136" cy="20299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>
              <a:defRPr sz="2000" b="0">
                <a:solidFill>
                  <a:srgbClr val="F7F9FF"/>
                </a:solidFill>
                <a:latin typeface="Aptos"/>
              </a:defRPr>
            </a:pPr>
            <a:r>
              <a:t>Content-aware layouts and structural checks form a stronger presentation-generation foundation.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